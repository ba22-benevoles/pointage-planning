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D4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914400"/>
            <a:ext cx="1005840" cy="1005840"/>
          </a:xfrm>
          <a:prstGeom prst="ellipse">
            <a:avLst/>
          </a:prstGeom>
          <a:solidFill>
            <a:srgbClr val="2C5F2D"/>
          </a:solidFill>
          <a:ln/>
        </p:spPr>
      </p:sp>
      <p:pic>
        <p:nvPicPr>
          <p:cNvPr id="3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2958" y="1155802"/>
            <a:ext cx="523037" cy="52303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0" y="22860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Comment fonctionne l’outil ?</a:t>
            </a:r>
            <a:endParaRPr lang="en-US" sz="3800" dirty="0"/>
          </a:p>
        </p:txBody>
      </p:sp>
      <p:sp>
        <p:nvSpPr>
          <p:cNvPr id="5" name="Text 2"/>
          <p:cNvSpPr txBox="1"/>
          <p:nvPr/>
        </p:nvSpPr>
        <p:spPr>
          <a:xfrm>
            <a:off x="1097280" y="310896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parcours d’une connexion, du clic du bénévole jusqu’à l’email reçu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de formation — Pointage &amp; Planning BA22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Vue d’ensemble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110996" y="137160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/>
        </p:spPr>
      </p:sp>
      <p:sp>
        <p:nvSpPr>
          <p:cNvPr id="4" name="Shape 2"/>
          <p:cNvSpPr/>
          <p:nvPr/>
        </p:nvSpPr>
        <p:spPr>
          <a:xfrm>
            <a:off x="1613916" y="160020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icons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9481" y="1775765"/>
            <a:ext cx="380390" cy="38039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0996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Bénévole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2848356" y="1874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A5E"/>
                </a:solidFill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3168396" y="137160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/>
        </p:spPr>
      </p:sp>
      <p:sp>
        <p:nvSpPr>
          <p:cNvPr id="9" name="Shape 6"/>
          <p:cNvSpPr/>
          <p:nvPr/>
        </p:nvSpPr>
        <p:spPr>
          <a:xfrm>
            <a:off x="3671316" y="1600200"/>
            <a:ext cx="731520" cy="731520"/>
          </a:xfrm>
          <a:prstGeom prst="ellipse">
            <a:avLst/>
          </a:prstGeom>
          <a:solidFill>
            <a:srgbClr val="3E6B8F"/>
          </a:solidFill>
          <a:ln/>
        </p:spPr>
      </p:sp>
      <p:pic>
        <p:nvPicPr>
          <p:cNvPr id="10" name="Image 1" descr="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6881" y="177576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168396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(LWS)</a:t>
            </a:r>
            <a:endParaRPr lang="en-US" sz="1300" dirty="0"/>
          </a:p>
        </p:txBody>
      </p:sp>
      <p:sp>
        <p:nvSpPr>
          <p:cNvPr id="12" name="Text 8"/>
          <p:cNvSpPr txBox="1"/>
          <p:nvPr/>
        </p:nvSpPr>
        <p:spPr>
          <a:xfrm>
            <a:off x="4905756" y="1874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A5E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5225796" y="137160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/>
        </p:spPr>
      </p:sp>
      <p:sp>
        <p:nvSpPr>
          <p:cNvPr id="14" name="Shape 10"/>
          <p:cNvSpPr/>
          <p:nvPr/>
        </p:nvSpPr>
        <p:spPr>
          <a:xfrm>
            <a:off x="5728716" y="1600200"/>
            <a:ext cx="731520" cy="731520"/>
          </a:xfrm>
          <a:prstGeom prst="ellipse">
            <a:avLst/>
          </a:prstGeom>
          <a:solidFill>
            <a:srgbClr val="3E6B8F"/>
          </a:solidFill>
          <a:ln/>
        </p:spPr>
      </p:sp>
      <p:pic>
        <p:nvPicPr>
          <p:cNvPr id="15" name="Image 2" descr="icons/clou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281" y="1775765"/>
            <a:ext cx="380390" cy="38039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225796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6963156" y="1874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A5E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7283196" y="137160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/>
        </p:spPr>
      </p:sp>
      <p:sp>
        <p:nvSpPr>
          <p:cNvPr id="19" name="Shape 14"/>
          <p:cNvSpPr/>
          <p:nvPr/>
        </p:nvSpPr>
        <p:spPr>
          <a:xfrm>
            <a:off x="7786116" y="1600200"/>
            <a:ext cx="731520" cy="731520"/>
          </a:xfrm>
          <a:prstGeom prst="ellipse">
            <a:avLst/>
          </a:prstGeom>
          <a:solidFill>
            <a:srgbClr val="6B4C9A"/>
          </a:solidFill>
          <a:ln/>
        </p:spPr>
      </p:sp>
      <p:pic>
        <p:nvPicPr>
          <p:cNvPr id="20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1681" y="1775765"/>
            <a:ext cx="380390" cy="38039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7283196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/>
          </a:p>
        </p:txBody>
      </p:sp>
      <p:sp>
        <p:nvSpPr>
          <p:cNvPr id="22" name="Text 16"/>
          <p:cNvSpPr txBox="1"/>
          <p:nvPr/>
        </p:nvSpPr>
        <p:spPr>
          <a:xfrm>
            <a:off x="9020556" y="187452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A5E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9340596" y="1371600"/>
            <a:ext cx="1737360" cy="1737360"/>
          </a:xfrm>
          <a:prstGeom prst="roundRect">
            <a:avLst>
              <a:gd name="adj" fmla="val 5263"/>
            </a:avLst>
          </a:prstGeom>
          <a:solidFill>
            <a:srgbClr val="F5F5F5"/>
          </a:solidFill>
          <a:ln/>
        </p:spPr>
      </p:sp>
      <p:sp>
        <p:nvSpPr>
          <p:cNvPr id="24" name="Shape 18"/>
          <p:cNvSpPr/>
          <p:nvPr/>
        </p:nvSpPr>
        <p:spPr>
          <a:xfrm>
            <a:off x="9843516" y="1600200"/>
            <a:ext cx="731520" cy="731520"/>
          </a:xfrm>
          <a:prstGeom prst="ellipse">
            <a:avLst/>
          </a:prstGeom>
          <a:solidFill>
            <a:srgbClr val="C0603D"/>
          </a:solidFill>
          <a:ln/>
        </p:spPr>
      </p:sp>
      <p:pic>
        <p:nvPicPr>
          <p:cNvPr id="25" name="Image 4" descr="icons/envelo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9081" y="1775765"/>
            <a:ext cx="380390" cy="38039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9340596" y="24231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10895076" y="3291840"/>
            <a:ext cx="-8046720" cy="0"/>
          </a:xfrm>
          <a:prstGeom prst="line">
            <a:avLst/>
          </a:prstGeom>
          <a:noFill/>
          <a:ln w="12700">
            <a:solidFill>
              <a:srgbClr val="6B6A5E"/>
            </a:solidFill>
            <a:prstDash val="dash"/>
            <a:tailEnd type="triangle"/>
          </a:ln>
        </p:spPr>
      </p:sp>
      <p:sp>
        <p:nvSpPr>
          <p:cNvPr id="28" name="Text 21"/>
          <p:cNvSpPr txBox="1"/>
          <p:nvPr/>
        </p:nvSpPr>
        <p:spPr>
          <a:xfrm>
            <a:off x="1110996" y="34747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reçu en retour</a:t>
            </a:r>
            <a:endParaRPr lang="en-US" sz="1100" dirty="0"/>
          </a:p>
        </p:txBody>
      </p:sp>
      <p:sp>
        <p:nvSpPr>
          <p:cNvPr id="29" name="Text 22"/>
          <p:cNvSpPr txBox="1"/>
          <p:nvPr/>
        </p:nvSpPr>
        <p:spPr>
          <a:xfrm>
            <a:off x="731520" y="484632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bénévole voit vraiment : </a:t>
            </a:r>
            <a:pPr algn="ctr" indent="0" marL="0">
              <a:buNone/>
            </a:pPr>
            <a:r>
              <a:rPr lang="en-US" sz="1400" dirty="0">
                <a:solidFill>
                  <a:srgbClr val="6B6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chargement de la page, et parfois un email plus tard. Tout le reste se passe en coulisses.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1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DNS (chez LWS)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3E6B8F"/>
          </a:solidFill>
          <a:ln/>
        </p:spPr>
      </p:sp>
      <p:pic>
        <p:nvPicPr>
          <p:cNvPr id="5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839773"/>
            <a:ext cx="618134" cy="6181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94560" y="1600200"/>
            <a:ext cx="9354312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423160" y="1600200"/>
            <a:ext cx="8897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450" i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un panneau de rue : «pointage.esl22.fr» ne contient rien, il indique juste où se trouve la vraie «maison».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bénévole tape toujours la même adresse, sans rien savoir de ce qui se passe derrière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490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DNS traduit cette adresse en la vraie destination (aujourd’hui : Netlify)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348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on change d’hébergeur un jour, seul ce «panneau» change — l’adresse reste identique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L’hébergement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3E6B8F"/>
          </a:solidFill>
          <a:ln/>
        </p:spPr>
      </p:sp>
      <p:pic>
        <p:nvPicPr>
          <p:cNvPr id="5" name="Image 0" descr="icons/clou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839773"/>
            <a:ext cx="618134" cy="6181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94560" y="1600200"/>
            <a:ext cx="9354312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423160" y="1600200"/>
            <a:ext cx="8897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450" i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 récupérer une notice de jeu en arrivant : ça ne se fait qu’une seule fois, au tout début.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fichiers du site (les pages HTML/JS) au navigateur du bénévole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490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N’intervient qu’une fois, au chargement de la page — jamais à chaque clic ensuite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348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donnée personnelle n’y est stockée : juste le code du site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navigateur du bénévole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5" name="Image 0" descr="icons/desk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839773"/>
            <a:ext cx="618134" cy="6181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94560" y="1600200"/>
            <a:ext cx="9354312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423160" y="1600200"/>
            <a:ext cx="8897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450" i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fois la notice en main, c’est le bénévole qui «joue la partie» — pas besoin de revenir la chercher à chaque coup.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réellement le programme, directement sur l’ordinateur du bénévole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490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clic (recherche, pointage, planning) déclenche un échange direct avec Supabase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348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Retient aussi, localement, le mot de passe du site une fois tapé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4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Supabase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6B4C9A"/>
          </a:solidFill>
          <a:ln/>
        </p:spPr>
      </p:sp>
      <p:pic>
        <p:nvPicPr>
          <p:cNvPr id="5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839773"/>
            <a:ext cx="618134" cy="6181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94560" y="1600200"/>
            <a:ext cx="9354312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423160" y="1600200"/>
            <a:ext cx="8897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450" i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vraie «armoire à dossiers» de l’outil — tout ce qui compte vraiment y est rangé.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Stocke les bénévoles, les pointages, le planning, les congés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490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Vérifie qui a le droit de voir ou modifier quoi (sécurité)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348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Déclenche certaines automatisations : alertes, fermetures de session oubliées, envoi du planning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Étape 5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F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188720" cy="1188720"/>
          </a:xfrm>
          <a:prstGeom prst="ellipse">
            <a:avLst/>
          </a:prstGeom>
          <a:solidFill>
            <a:srgbClr val="C0603D"/>
          </a:solidFill>
          <a:ln/>
        </p:spPr>
      </p:sp>
      <p:pic>
        <p:nvPicPr>
          <p:cNvPr id="5" name="Image 0" descr="icons/envelo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839773"/>
            <a:ext cx="618134" cy="61813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194560" y="1600200"/>
            <a:ext cx="9354312" cy="1051560"/>
          </a:xfrm>
          <a:prstGeom prst="roundRect">
            <a:avLst>
              <a:gd name="adj" fmla="val 8696"/>
            </a:avLst>
          </a:prstGeom>
          <a:solidFill>
            <a:srgbClr val="F5F5F5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2423160" y="1600200"/>
            <a:ext cx="889711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</a:t>
            </a:r>
            <a:pPr indent="0" marL="0">
              <a:buNone/>
            </a:pPr>
            <a:r>
              <a:rPr lang="en-US" sz="1450" i="1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«facteur» de l’outil — il ne prépare rien lui-même, il livre juste ce que Supabase lui confie.</a:t>
            </a:r>
            <a:endParaRPr lang="en-US" sz="145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30632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 planning chaque vendredi, à tous les bénévoles actifs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490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 lien de connexion à l’espace personnel («Mes congés»)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443484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23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Envoie les alertes automatiques (poste vide, planning non enregistré)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D4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0" y="64008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résumé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82319" y="210312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4" name="Image 0" descr="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7884" y="2278685"/>
            <a:ext cx="380390" cy="38039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301752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</a:t>
            </a:r>
            <a:endParaRPr lang="en-US" sz="135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429000"/>
            <a:ext cx="18159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Indique où aller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455518" y="210312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8" name="Image 1" descr="icons/clou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1082" y="2278685"/>
            <a:ext cx="380390" cy="38039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821838" y="301752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Hébergement</a:t>
            </a:r>
            <a:endParaRPr lang="en-US" sz="1350" dirty="0"/>
          </a:p>
        </p:txBody>
      </p:sp>
      <p:sp>
        <p:nvSpPr>
          <p:cNvPr id="10" name="Text 6"/>
          <p:cNvSpPr txBox="1"/>
          <p:nvPr/>
        </p:nvSpPr>
        <p:spPr>
          <a:xfrm>
            <a:off x="2913278" y="3429000"/>
            <a:ext cx="18159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le site, une fois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5728716" y="210312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2" name="Image 2" descr="icons/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4281" y="2278685"/>
            <a:ext cx="380390" cy="38039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95037" y="301752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Navigateur</a:t>
            </a:r>
            <a:endParaRPr lang="en-US" sz="1350" dirty="0"/>
          </a:p>
        </p:txBody>
      </p:sp>
      <p:sp>
        <p:nvSpPr>
          <p:cNvPr id="14" name="Text 9"/>
          <p:cNvSpPr txBox="1"/>
          <p:nvPr/>
        </p:nvSpPr>
        <p:spPr>
          <a:xfrm>
            <a:off x="5186477" y="3429000"/>
            <a:ext cx="18159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 et dialogue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8001914" y="210312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16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7479" y="2278685"/>
            <a:ext cx="380390" cy="380390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7368235" y="301752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50" dirty="0"/>
          </a:p>
        </p:txBody>
      </p:sp>
      <p:sp>
        <p:nvSpPr>
          <p:cNvPr id="18" name="Text 12"/>
          <p:cNvSpPr txBox="1"/>
          <p:nvPr/>
        </p:nvSpPr>
        <p:spPr>
          <a:xfrm>
            <a:off x="7459675" y="3429000"/>
            <a:ext cx="18159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les données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10275113" y="2103120"/>
            <a:ext cx="731520" cy="731520"/>
          </a:xfrm>
          <a:prstGeom prst="ellipse">
            <a:avLst/>
          </a:prstGeom>
          <a:solidFill>
            <a:srgbClr val="97BC62"/>
          </a:solidFill>
          <a:ln/>
        </p:spPr>
      </p:sp>
      <p:pic>
        <p:nvPicPr>
          <p:cNvPr id="20" name="Image 4" descr="icons/envelop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0678" y="2278685"/>
            <a:ext cx="380390" cy="380390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9641434" y="3017520"/>
            <a:ext cx="19988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Brevo</a:t>
            </a:r>
            <a:endParaRPr lang="en-US" sz="1350" dirty="0"/>
          </a:p>
        </p:txBody>
      </p:sp>
      <p:sp>
        <p:nvSpPr>
          <p:cNvPr id="22" name="Text 15"/>
          <p:cNvSpPr txBox="1"/>
          <p:nvPr/>
        </p:nvSpPr>
        <p:spPr>
          <a:xfrm>
            <a:off x="9732874" y="3429000"/>
            <a:ext cx="181599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8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Livre les emails</a:t>
            </a:r>
            <a:endParaRPr lang="en-US" sz="1100" dirty="0"/>
          </a:p>
        </p:txBody>
      </p:sp>
      <p:sp>
        <p:nvSpPr>
          <p:cNvPr id="23" name="Text 16"/>
          <p:cNvSpPr txBox="1"/>
          <p:nvPr/>
        </p:nvSpPr>
        <p:spPr>
          <a:xfrm>
            <a:off x="731520" y="5029200"/>
            <a:ext cx="10725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geste pour le bénévole : ouvrir la page. Tout le reste se passe tout seul.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2026-09-27T06:54:41Z</dcterms:created>
  <dcterms:modified xsi:type="dcterms:W3CDTF">2026-09-27T06:54:41Z</dcterms:modified>
</cp:coreProperties>
</file>